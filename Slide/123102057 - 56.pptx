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96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45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2743200" cy="27432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7836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Clickstream Analytics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 Recommendation System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36498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374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498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Flajolet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-Martin 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90088" y="3649848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374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364984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Count-Min Sketch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57800" y="3649848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374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3649848"/>
            <a:ext cx="1362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21424" y="3649848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374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3649848"/>
            <a:ext cx="1362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E898E3FD-A67A-F0FA-2886-88E618918C9A}"/>
              </a:ext>
            </a:extLst>
          </p:cNvPr>
          <p:cNvSpPr/>
          <p:nvPr/>
        </p:nvSpPr>
        <p:spPr>
          <a:xfrm>
            <a:off x="788535" y="4711283"/>
            <a:ext cx="3628270" cy="1737360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37407A"/>
            </a:solidFill>
            <a:prstDash val="solid"/>
          </a:ln>
        </p:spPr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0EE27B8-A567-B874-0D77-D8F6BA2ED697}"/>
              </a:ext>
            </a:extLst>
          </p:cNvPr>
          <p:cNvSpPr/>
          <p:nvPr/>
        </p:nvSpPr>
        <p:spPr>
          <a:xfrm>
            <a:off x="969523" y="118021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BIG DATA ANALYTICS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04519" y="5571337"/>
            <a:ext cx="4604436" cy="521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Computer Engineering Department </a:t>
            </a:r>
          </a:p>
          <a:p>
            <a:r>
              <a:rPr lang="en-IN" sz="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NIT Kurukshetra</a:t>
            </a:r>
          </a:p>
          <a:p>
            <a:r>
              <a:rPr lang="en-IN" sz="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Kurukshetra, India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16CB292C-E557-AD07-DCD9-51261286A0AC}"/>
              </a:ext>
            </a:extLst>
          </p:cNvPr>
          <p:cNvSpPr/>
          <p:nvPr/>
        </p:nvSpPr>
        <p:spPr>
          <a:xfrm>
            <a:off x="1104519" y="4993223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ALYAN</a:t>
            </a:r>
            <a:b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123102057(CSA2)</a:t>
            </a:r>
            <a:endParaRPr lang="en-US" sz="13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0DC529CF-AD7F-C165-6D87-729DBA068CB4}"/>
              </a:ext>
            </a:extLst>
          </p:cNvPr>
          <p:cNvSpPr/>
          <p:nvPr/>
        </p:nvSpPr>
        <p:spPr>
          <a:xfrm>
            <a:off x="5388139" y="4702657"/>
            <a:ext cx="3628270" cy="1737360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3740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3BC9D957-2B70-7C37-E953-07300B310B12}"/>
              </a:ext>
            </a:extLst>
          </p:cNvPr>
          <p:cNvSpPr/>
          <p:nvPr/>
        </p:nvSpPr>
        <p:spPr>
          <a:xfrm>
            <a:off x="5868327" y="495541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PANKAJ SAHARAN</a:t>
            </a:r>
            <a:b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123102056(CSA2)</a:t>
            </a:r>
            <a:endParaRPr lang="en-US" sz="13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EE1A3112-6A1A-450C-3E93-4C2467E7D476}"/>
              </a:ext>
            </a:extLst>
          </p:cNvPr>
          <p:cNvSpPr/>
          <p:nvPr/>
        </p:nvSpPr>
        <p:spPr>
          <a:xfrm>
            <a:off x="5873288" y="5565819"/>
            <a:ext cx="4604436" cy="521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Computer Engineering Department </a:t>
            </a:r>
          </a:p>
          <a:p>
            <a:r>
              <a:rPr lang="en-IN" sz="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NIT Kurukshetra</a:t>
            </a:r>
          </a:p>
          <a:p>
            <a:r>
              <a:rPr lang="en-IN" sz="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Kurukshetra, India</a:t>
            </a: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production-style clickstream pipeline, built to behave the way a real one would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 events stream in as batches, similar to how Kafka would feed a Spark job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probabilistic data structures track the stream in near-constant memory, instead of storing every event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collaborative filtering model trains on the same ratings and produces personalized movie recommendations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lands on a Streamlit dashboard that refreshes on its own every few seconds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691640"/>
            <a:ext cx="4663440" cy="4160520"/>
          </a:xfrm>
          <a:prstGeom prst="roundRect">
            <a:avLst>
              <a:gd name="adj" fmla="val 2198"/>
            </a:avLst>
          </a:prstGeom>
          <a:solidFill>
            <a:srgbClr val="EEF3FD"/>
          </a:solidFill>
          <a:ln/>
        </p:spPr>
      </p:sp>
      <p:sp>
        <p:nvSpPr>
          <p:cNvPr id="6" name="Text 4"/>
          <p:cNvSpPr/>
          <p:nvPr/>
        </p:nvSpPr>
        <p:spPr>
          <a:xfrm>
            <a:off x="726948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69480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235440" y="24780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processed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69480" y="32644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943 × 1,682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235440" y="33192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user–item matrix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69480" y="41056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23544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batches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69480" y="494690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~94%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235440" y="5001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sparsity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Moves Through the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801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100K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ratings · 943 users · 1,682 movies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920240" y="2103120"/>
            <a:ext cx="0" cy="41148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560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603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Session  —  sliding-window aggregation over the batch stream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3200400"/>
            <a:ext cx="0" cy="36576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3611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30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Flajolet-Martin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0873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Unique-user cardinality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4439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hashes · 8 groups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88536" y="3611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3730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Count-Min Sketch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17136" y="40873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frequency estimate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17136" y="44439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× 7 table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28432" y="3611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3730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 (MLlib)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57032" y="40873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57032" y="44439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20, 10 iterations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4846320"/>
            <a:ext cx="0" cy="36576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521208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21208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CSV exports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metrics · trending · recommendations…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7880" y="5550408"/>
            <a:ext cx="50292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00800" y="521208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52120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auto-refreshes every 2–10 seconds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132588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Flajolet-Martin: Counting Unique Users Cheaply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92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 1985, this algorithm estimates how many distinct users showed up in a stream without ever storing a user list.</a:t>
            </a:r>
            <a:endParaRPr lang="en-US" sz="14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hashes each user ID and looks at the position of the first 1-bit — long runs of leading zeros are rare, so the longest one seen is a proxy for how many distinct values passed through.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hash functions across 8 groups, combined with a median-of-means average, keep the estimate stable instead of swinging on a lucky (or unlucky) hash.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49834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= 0.7713 correction constant, taken directly from the original paper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06640" y="137160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ERROR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~11.88%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6809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exact user counting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3520440"/>
            <a:ext cx="3566160" cy="0"/>
          </a:xfrm>
          <a:prstGeom prst="line">
            <a:avLst/>
          </a:prstGeom>
          <a:noFill/>
          <a:ln w="12700">
            <a:solidFill>
              <a:srgbClr val="374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3703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kilobytes of memory, no matter how many users pass through — the whole point of a streaming estimator.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132588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Count-Min Sketch: Item Frequency on a Budget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92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Cormode &amp; Muthukrishnan's 2005 sketch tracks how often each movie gets interacted with, using a fixed-size table rather than a counter per movie.</a:t>
            </a:r>
            <a:endParaRPr lang="en-US" sz="14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500 × 7 grid (about 14 KB) hashes every event into several rows at once; reading the smallest of those cells gives an estimate that only ever overshoots, never undershoots, the true count.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is used for the hashing instead of Python's built-in hash(), which reseeds randomly on every run — MD5 keeps results reproducible across sessions.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06640" y="137160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EEF3FD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ERROR, TOP 20 ITEMS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0" y="1783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5.63%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68096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across widths from 50 to 2,000 to weigh memory against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329184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VS. EXACT COUNTING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3703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68096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footprint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0" y="4663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 KB sketch vs. 91.1 KB of exact counters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132588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ALS: Turning Ratings Into 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92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Least Squares factorizes the 943 × 1,682 rating matrix — about 94% empty — into two smaller matrices of latent user and movie factors.</a:t>
            </a:r>
            <a:endParaRPr lang="en-US" sz="14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trains on 80,000 ratings and is checked against the 20,000 it never saw, using Spark MLlib's built-in implementation.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 around 4% look low on paper, but that's typical for a matrix this sparse — it's in line with published MovieLens benchmarks, not a bug.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06640" y="137160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SETTINGS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26680" y="2103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factors (rank)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149840" y="21031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2487168"/>
            <a:ext cx="3566160" cy="0"/>
          </a:xfrm>
          <a:prstGeom prst="line">
            <a:avLst/>
          </a:prstGeom>
          <a:noFill/>
          <a:ln w="9525">
            <a:solidFill>
              <a:srgbClr val="374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24871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149840" y="24871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26680" y="2871216"/>
            <a:ext cx="3566160" cy="0"/>
          </a:xfrm>
          <a:prstGeom prst="line">
            <a:avLst/>
          </a:prstGeom>
          <a:noFill/>
          <a:ln w="9525">
            <a:solidFill>
              <a:srgbClr val="374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28712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149840" y="287121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26680" y="3255264"/>
            <a:ext cx="3566160" cy="0"/>
          </a:xfrm>
          <a:prstGeom prst="line">
            <a:avLst/>
          </a:prstGeom>
          <a:noFill/>
          <a:ln w="9525">
            <a:solidFill>
              <a:srgbClr val="374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32552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strategy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149840" y="32552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26680" y="3639312"/>
            <a:ext cx="3566160" cy="0"/>
          </a:xfrm>
          <a:prstGeom prst="line">
            <a:avLst/>
          </a:prstGeom>
          <a:noFill/>
          <a:ln w="9525">
            <a:solidFill>
              <a:srgbClr val="374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36393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test set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149840" y="36393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0.9195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components measured against exact counts or a held-out test set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566157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Flajolet-Martin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Estimation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~11.88%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Count-Min Sketch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error, top 20 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Count-Min Sketch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vs. exact counting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6.7× smaller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(test set)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absolute precision/recall is expected on a matrix this sparse (~94% empty) and matches published MovieLens 100K benchmarks.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EEF3FD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notebook and dashboard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EEF3FD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5166360" y="16002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1945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processing, windowing, and ALS training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EEF3FD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8915400" y="16002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1945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between pipeline stages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EEF3F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1417320" y="3337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3931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dashboard, auto-refreshed every 2–10s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1546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EEF3F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5166360" y="3337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/ seaborn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26280" y="3931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Notebook-side charts and exploration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31546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EEF3FD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430" dirty="0"/>
          </a:p>
        </p:txBody>
      </p:sp>
      <p:sp>
        <p:nvSpPr>
          <p:cNvPr id="31" name="Text 29"/>
          <p:cNvSpPr/>
          <p:nvPr/>
        </p:nvSpPr>
        <p:spPr>
          <a:xfrm>
            <a:off x="8915400" y="3337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3931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notebook actually runs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 Yourself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EEF3FD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1554480" y="1645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notebook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index.ipynb in Google Colab and run every cell in order.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downloads MovieLens 100K automatically, installs PySpark, runs FM, CMS and the Kafka-style stream simulation, and trains the ALS model.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24 exports all 6 CSV files — download them and drop them next to app.py.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7178040" y="1645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the dashboard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242316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61C4A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4231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streamlit streamlit-autorefresh pandas numpy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30175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61C4A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017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37033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all 6 CSV files sit in the same folder as app.py before you launch — the dashboard reads them directly.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100K</a:t>
            </a:r>
            <a:endParaRPr lang="en-US" sz="130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ratings from 943 users on 1,682 movies, collected through the MovieLens website. Ratings mapped to clickstream events: 1–3 stars as views, 4 stars as add-to-cart, 5 stars as a transaction.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Harper, F. &amp; Konstan, J. (2015). The MovieLens Datasets: History and Context. ACM TiiS.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0" y="132588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161C4A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0" y="15087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0" y="192024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Flajolet, P. &amp; Martin, G. (1985). Probabilistic Counting Algorithms for Data Base Applications. J. Computer and System Sciences.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49440" y="3090672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Cormode, G. &amp; Muthukrishnan, S. (2005). An Improved Data Stream Summary: The Count-Min Sketch and its Applications. J. Algorithms.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440" y="4261104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Koren, Y., Bell, R. &amp; Volinsky, C. (2009). Matrix Factorization Techniques for Recommender Systems. IEEE Computer.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1026</Words>
  <Application>Microsoft Office PowerPoint</Application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pankaj choudhary</cp:lastModifiedBy>
  <cp:revision>2</cp:revision>
  <dcterms:created xsi:type="dcterms:W3CDTF">2026-07-20T16:13:59Z</dcterms:created>
  <dcterms:modified xsi:type="dcterms:W3CDTF">2026-07-20T16:30:12Z</dcterms:modified>
</cp:coreProperties>
</file>